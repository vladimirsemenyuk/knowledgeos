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eebf7cbdb47ab" /><Relationship Type="http://schemas.openxmlformats.org/officeDocument/2006/relationships/extended-properties" Target="/docProps/app.xml" Id="Rc13c58c426e54316" /><Relationship Type="http://schemas.openxmlformats.org/officeDocument/2006/relationships/officeDocument" Target="/ppt/presentation.xml" Id="R84b7e38da408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14a6bfd3404c16"/>
  </p:sldMasterIdLst>
  <p:notesMasterIdLst>
    <p:notesMasterId xmlns:r="http://schemas.openxmlformats.org/officeDocument/2006/relationships" r:id="R8b40f4c83e0b4f53"/>
  </p:notesMasterIdLst>
  <p:sldIdLst>
    <p:sldId xmlns:r="http://schemas.openxmlformats.org/officeDocument/2006/relationships" id="256" r:id="R32b19e573d674201"/>
    <p:sldId xmlns:r="http://schemas.openxmlformats.org/officeDocument/2006/relationships" id="257" r:id="Rff5f11b5fd1d4934"/>
    <p:sldId xmlns:r="http://schemas.openxmlformats.org/officeDocument/2006/relationships" id="258" r:id="Rcaad437f7265468c"/>
    <p:sldId xmlns:r="http://schemas.openxmlformats.org/officeDocument/2006/relationships" id="259" r:id="Raaa461894dd64626"/>
    <p:sldId xmlns:r="http://schemas.openxmlformats.org/officeDocument/2006/relationships" id="260" r:id="R1be3c4f3ad824d4e"/>
    <p:sldId xmlns:r="http://schemas.openxmlformats.org/officeDocument/2006/relationships" id="261" r:id="R0ba654396b784a27"/>
    <p:sldId xmlns:r="http://schemas.openxmlformats.org/officeDocument/2006/relationships" id="262" r:id="Rd673b96b7bb14ac5"/>
    <p:sldId xmlns:r="http://schemas.openxmlformats.org/officeDocument/2006/relationships" id="263" r:id="R79c816c9fbaa4355"/>
    <p:sldId xmlns:r="http://schemas.openxmlformats.org/officeDocument/2006/relationships" id="264" r:id="R4bf065793c7c4ebc"/>
    <p:sldId xmlns:r="http://schemas.openxmlformats.org/officeDocument/2006/relationships" id="265" r:id="R29b20d99d1bf4283"/>
    <p:sldId xmlns:r="http://schemas.openxmlformats.org/officeDocument/2006/relationships" id="266" r:id="Ra40130358ddf439f"/>
    <p:sldId xmlns:r="http://schemas.openxmlformats.org/officeDocument/2006/relationships" id="267" r:id="Re8780169ce7a44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a1f57436047ba" /><Relationship Type="http://schemas.openxmlformats.org/officeDocument/2006/relationships/slideMaster" Target="/ppt/slideMasters/slideMaster1.xml" Id="R2514a6bfd3404c16" /><Relationship Type="http://schemas.openxmlformats.org/officeDocument/2006/relationships/notesMaster" Target="/ppt/notesMasters/notesMaster1.xml" Id="R8b40f4c83e0b4f53" /><Relationship Type="http://schemas.openxmlformats.org/officeDocument/2006/relationships/presProps" Target="/ppt/presProps.xml" Id="R5460d2b8d9b44b1e" /><Relationship Type="http://schemas.openxmlformats.org/officeDocument/2006/relationships/tableStyles" Target="/ppt/tableStyles.xml" Id="R56839bb3b6644e34" /><Relationship Type="http://schemas.openxmlformats.org/officeDocument/2006/relationships/slide" Target="/ppt/slides/slide1.xml" Id="R32b19e573d674201" /><Relationship Type="http://schemas.openxmlformats.org/officeDocument/2006/relationships/slide" Target="/ppt/slides/slide2.xml" Id="Rff5f11b5fd1d4934" /><Relationship Type="http://schemas.openxmlformats.org/officeDocument/2006/relationships/slide" Target="/ppt/slides/slide3.xml" Id="Rcaad437f7265468c" /><Relationship Type="http://schemas.openxmlformats.org/officeDocument/2006/relationships/slide" Target="/ppt/slides/slide4.xml" Id="Raaa461894dd64626" /><Relationship Type="http://schemas.openxmlformats.org/officeDocument/2006/relationships/slide" Target="/ppt/slides/slide5.xml" Id="R1be3c4f3ad824d4e" /><Relationship Type="http://schemas.openxmlformats.org/officeDocument/2006/relationships/slide" Target="/ppt/slides/slide6.xml" Id="R0ba654396b784a27" /><Relationship Type="http://schemas.openxmlformats.org/officeDocument/2006/relationships/slide" Target="/ppt/slides/slide7.xml" Id="Rd673b96b7bb14ac5" /><Relationship Type="http://schemas.openxmlformats.org/officeDocument/2006/relationships/slide" Target="/ppt/slides/slide8.xml" Id="R79c816c9fbaa4355" /><Relationship Type="http://schemas.openxmlformats.org/officeDocument/2006/relationships/slide" Target="/ppt/slides/slide9.xml" Id="R4bf065793c7c4ebc" /><Relationship Type="http://schemas.openxmlformats.org/officeDocument/2006/relationships/slide" Target="/ppt/slides/slide10.xml" Id="R29b20d99d1bf4283" /><Relationship Type="http://schemas.openxmlformats.org/officeDocument/2006/relationships/slide" Target="/ppt/slides/slide11.xml" Id="Ra40130358ddf439f" /><Relationship Type="http://schemas.openxmlformats.org/officeDocument/2006/relationships/slide" Target="/ppt/slides/slide12.xml" Id="Re8780169ce7a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358c0ab63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71163f27124e37" /><Relationship Type="http://schemas.openxmlformats.org/officeDocument/2006/relationships/notesMaster" Target="/ppt/notesMasters/notesMaster1.xml" Id="R68f988e399f544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cb468ab6f844f0" /><Relationship Type="http://schemas.openxmlformats.org/officeDocument/2006/relationships/notesMaster" Target="/ppt/notesMasters/notesMaster1.xml" Id="R39992e7745c84d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c0b1d993d14908" /><Relationship Type="http://schemas.openxmlformats.org/officeDocument/2006/relationships/notesMaster" Target="/ppt/notesMasters/notesMaster1.xml" Id="R3eb75285509246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4d566476f4ddb" /><Relationship Type="http://schemas.openxmlformats.org/officeDocument/2006/relationships/notesMaster" Target="/ppt/notesMasters/notesMaster1.xml" Id="Rb7c55ac91a3b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1a294c76d4438c" /><Relationship Type="http://schemas.openxmlformats.org/officeDocument/2006/relationships/notesMaster" Target="/ppt/notesMasters/notesMaster1.xml" Id="R1b4c65c9457347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3f997b2464430c" /><Relationship Type="http://schemas.openxmlformats.org/officeDocument/2006/relationships/notesMaster" Target="/ppt/notesMasters/notesMaster1.xml" Id="Rc6b29a412b564c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86e97bd5541e4" /><Relationship Type="http://schemas.openxmlformats.org/officeDocument/2006/relationships/notesMaster" Target="/ppt/notesMasters/notesMaster1.xml" Id="R71aad017b98946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008d351c1c4c1e" /><Relationship Type="http://schemas.openxmlformats.org/officeDocument/2006/relationships/notesMaster" Target="/ppt/notesMasters/notesMaster1.xml" Id="R2e394ccd6d664b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b447f7ffe44159" /><Relationship Type="http://schemas.openxmlformats.org/officeDocument/2006/relationships/notesMaster" Target="/ppt/notesMasters/notesMaster1.xml" Id="Ra71d116a8b4947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199def67dd493c" /><Relationship Type="http://schemas.openxmlformats.org/officeDocument/2006/relationships/notesMaster" Target="/ppt/notesMasters/notesMaster1.xml" Id="R50304e2cdcf54b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004847b1b433c" /><Relationship Type="http://schemas.openxmlformats.org/officeDocument/2006/relationships/notesMaster" Target="/ppt/notesMasters/notesMaster1.xml" Id="R50677408940542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b947175ef941fc" /><Relationship Type="http://schemas.openxmlformats.org/officeDocument/2006/relationships/notesMaster" Target="/ppt/notesMasters/notesMaster1.xml" Id="R32c2a30e4ff1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393be85884f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2330303eaf431f" /><Relationship Type="http://schemas.openxmlformats.org/officeDocument/2006/relationships/slideLayout" Target="/ppt/slideLayouts/slideLayout1.xml" Id="R29e3aa1f78fa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3aa1f78fa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bf4db4b1244cd" /><Relationship Type="http://schemas.openxmlformats.org/officeDocument/2006/relationships/notesSlide" Target="/ppt/notesSlides/notesSlide1.xml" Id="R0bfdccae98c34c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4fb0398aa4850" /><Relationship Type="http://schemas.openxmlformats.org/officeDocument/2006/relationships/notesSlide" Target="/ppt/notesSlides/notesSlide2.xml" Id="R89942de73faf48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7956842d64b6b" /><Relationship Type="http://schemas.openxmlformats.org/officeDocument/2006/relationships/notesSlide" Target="/ppt/notesSlides/notesSlide3.xml" Id="R917f3e36c7a6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974e9b6c74040" /><Relationship Type="http://schemas.openxmlformats.org/officeDocument/2006/relationships/notesSlide" Target="/ppt/notesSlides/notesSlide4.xml" Id="Rbfd324cebb1c42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e8563710041fc" /><Relationship Type="http://schemas.openxmlformats.org/officeDocument/2006/relationships/notesSlide" Target="/ppt/notesSlides/notesSlide5.xml" Id="Rc2d01d63181d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e4686837a47ba" /><Relationship Type="http://schemas.openxmlformats.org/officeDocument/2006/relationships/notesSlide" Target="/ppt/notesSlides/notesSlide6.xml" Id="R09f02f6a956a40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3c8929f5a44ab" /><Relationship Type="http://schemas.openxmlformats.org/officeDocument/2006/relationships/notesSlide" Target="/ppt/notesSlides/notesSlide7.xml" Id="Rccf97ec94a38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bd9f4c91e440a" /><Relationship Type="http://schemas.openxmlformats.org/officeDocument/2006/relationships/notesSlide" Target="/ppt/notesSlides/notesSlide8.xml" Id="Rf57619196ded4d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de7500a6b4140" /><Relationship Type="http://schemas.openxmlformats.org/officeDocument/2006/relationships/notesSlide" Target="/ppt/notesSlides/notesSlide9.xml" Id="R50f6f9bc95fd43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29be276384491" /><Relationship Type="http://schemas.openxmlformats.org/officeDocument/2006/relationships/notesSlide" Target="/ppt/notesSlides/notesSlide10.xml" Id="Re7fd5217dbf241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85e0b1cdf4fd9" /><Relationship Type="http://schemas.openxmlformats.org/officeDocument/2006/relationships/notesSlide" Target="/ppt/notesSlides/notesSlide11.xml" Id="R0b630c3cd40d45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e5a4ba7ce41a9" /><Relationship Type="http://schemas.openxmlformats.org/officeDocument/2006/relationships/notesSlide" Target="/ppt/notesSlides/notesSlide12.xml" Id="Raf4ac1af2b244f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92A0C393-A5B2-4662-86BB-F53D9B0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929A05-B8BC-47B8-804C-DA65145C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01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A60D81-B390-42EC-AE64-917BB2A8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AI-NATIVE PDLC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1091EA-A977-415F-A670-61547FF9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628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5F5F5"/>
                </a:solidFill>
              </a:defRPr>
            </a:pPr>
            <a:r>
              <a:rPr sz="5850" b="1">
                <a:solidFill>
                  <a:srgbClr val="F5F5F5"/>
                </a:solidFill>
              </a:rPr>
              <a:t>AI меняет</a:t>
            </a:r>
          </a:p>
          <a:p xmlns:a="http://schemas.openxmlformats.org/drawingml/2006/main">
            <a:pPr>
              <a:defRPr sz="5850" b="1">
                <a:solidFill>
                  <a:srgbClr val="F5F5F5"/>
                </a:solidFill>
              </a:defRPr>
            </a:pPr>
            <a:r>
              <a:rPr sz="5850" b="1">
                <a:solidFill>
                  <a:srgbClr val="F5F5F5"/>
                </a:solidFill>
              </a:rPr>
              <a:t>не только</a:t>
            </a:r>
          </a:p>
          <a:p xmlns:a="http://schemas.openxmlformats.org/drawingml/2006/main">
            <a:pPr>
              <a:defRPr sz="5850" b="1">
                <a:solidFill>
                  <a:srgbClr val="F5F5F5"/>
                </a:solidFill>
              </a:defRPr>
            </a:pPr>
            <a:r>
              <a:rPr sz="5850" b="1">
                <a:solidFill>
                  <a:srgbClr val="F5F5F5"/>
                </a:solidFill>
              </a:rPr>
              <a:t>инструменты</a:t>
            </a:r>
          </a:p>
        </p:txBody>
      </p:sp>
      <p:sp>
        <p:nvSpPr>
          <p:cNvPr id="5" name="accent-orb">
            <a:extLst xmlns:a="http://schemas.openxmlformats.org/drawingml/2006/main">
              <a:ext uri="{FF2B5EF4-FFF2-40B4-BE49-F238E27FC236}">
                <a16:creationId xmlns:a16="http://schemas.microsoft.com/office/drawing/2014/main" id="{8813795B-CDDA-42B1-9960-EA76C0C3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52550"/>
            <a:ext cx="3562350" cy="3562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ark-orb-cut">
            <a:extLst xmlns:a="http://schemas.openxmlformats.org/drawingml/2006/main">
              <a:ext uri="{FF2B5EF4-FFF2-40B4-BE49-F238E27FC236}">
                <a16:creationId xmlns:a16="http://schemas.microsoft.com/office/drawing/2014/main" id="{BB99B023-C95D-4316-8C29-8968FE28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144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7773C5FB-FD8E-477B-A124-F1E3E2F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5F5"/>
                </a:solidFill>
              </a:defRPr>
            </a:pPr>
            <a:r>
              <a:rPr sz="2100" b="0">
                <a:solidFill>
                  <a:srgbClr val="F5F5F5"/>
                </a:solidFill>
              </a:rPr>
              <a:t>Главный вопрос: меняется ли PDLC так, чтобы AI-исполнение было управляемым?</a:t>
            </a:r>
          </a:p>
        </p:txBody>
      </p:sp>
    </p:spTree>
    <p:extLst>
      <p:ext uri="{BB962C8B-B14F-4D97-AF65-F5344CB8AC3E}">
        <p14:creationId xmlns:p14="http://schemas.microsoft.com/office/powerpoint/2010/main" val="1962985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638C0C60-16F9-440E-93BE-5B15E77F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2E4600-5100-45DE-B11D-B33A251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02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395156C-950B-407A-B019-E16A4D90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ВОЗМОЖНОСТЬ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FEB61D-D51B-4B68-A77C-4E3FB79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5F5F5"/>
                </a:solidFill>
              </a:defRPr>
            </a:pPr>
            <a:r>
              <a:rPr sz="6450" b="1">
                <a:solidFill>
                  <a:srgbClr val="F5F5F5"/>
                </a:solidFill>
              </a:rPr>
              <a:t>больше</a:t>
            </a:r>
          </a:p>
          <a:p xmlns:a="http://schemas.openxmlformats.org/drawingml/2006/main">
            <a:pPr>
              <a:defRPr sz="6450" b="1">
                <a:solidFill>
                  <a:srgbClr val="F5F5F5"/>
                </a:solidFill>
              </a:defRPr>
            </a:pPr>
            <a:r>
              <a:rPr sz="6450" b="1">
                <a:solidFill>
                  <a:srgbClr val="F5F5F5"/>
                </a:solidFill>
              </a:rPr>
              <a:t>delivery</a:t>
            </a:r>
          </a:p>
        </p:txBody>
      </p:sp>
      <p:sp>
        <p:nvSpPr>
          <p:cNvPr id="5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A7549B5D-6373-4D21-B722-2E5A8405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7F1136-7115-4F7C-969E-955278B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049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5F5"/>
                </a:solidFill>
              </a:defRPr>
            </a:pPr>
            <a:r>
              <a:rPr sz="3450" b="1">
                <a:solidFill>
                  <a:srgbClr val="F5F5F5"/>
                </a:solidFill>
              </a:rPr>
              <a:t>AI ускоряет</a:t>
            </a:r>
          </a:p>
          <a:p xmlns:a="http://schemas.openxmlformats.org/drawingml/2006/main">
            <a:pPr>
              <a:defRPr sz="3450" b="1">
                <a:solidFill>
                  <a:srgbClr val="F5F5F5"/>
                </a:solidFill>
              </a:defRPr>
            </a:pPr>
            <a:r>
              <a:rPr sz="3450" b="1">
                <a:solidFill>
                  <a:srgbClr val="F5F5F5"/>
                </a:solidFill>
              </a:rPr>
              <a:t>рутинное</a:t>
            </a:r>
          </a:p>
          <a:p xmlns:a="http://schemas.openxmlformats.org/drawingml/2006/main">
            <a:pPr>
              <a:defRPr sz="3450" b="1">
                <a:solidFill>
                  <a:srgbClr val="F5F5F5"/>
                </a:solidFill>
              </a:defRPr>
            </a:pPr>
            <a:r>
              <a:rPr sz="3450" b="1">
                <a:solidFill>
                  <a:srgbClr val="F5F5F5"/>
                </a:solidFill>
              </a:rPr>
              <a:t>исполнение</a:t>
            </a:r>
          </a:p>
        </p:txBody>
      </p:sp>
      <p:sp>
        <p:nvSpPr>
          <p:cNvPr id="7" name="speed-list">
            <a:extLst xmlns:a="http://schemas.openxmlformats.org/drawingml/2006/main">
              <a:ext uri="{FF2B5EF4-FFF2-40B4-BE49-F238E27FC236}">
                <a16:creationId xmlns:a16="http://schemas.microsoft.com/office/drawing/2014/main" id="{22E8A381-CD38-457B-83D0-880AB0F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66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код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прототипы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рутинные задачи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backlog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6D698B3B-E04D-47CC-A943-6C61F989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8A8A8"/>
                </a:solidFill>
              </a:defRPr>
            </a:pPr>
            <a:r>
              <a:rPr sz="2100" b="0">
                <a:solidFill>
                  <a:srgbClr val="A8A8A8"/>
                </a:solidFill>
              </a:rPr>
              <a:t>Но ценность появляется только там, где компания быстрее уточняет, проверяет и принимает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54555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D3C6AFB9-11C4-4F23-8DAA-02AE8CF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C67551-7CB1-42AB-B87B-E935ED9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03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16F9A2D-DEA0-4963-8056-9D38059C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СДВИГ ПРОЦЕССА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A061AA-A823-4E11-A56A-7661F04B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1920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5F5F5"/>
                </a:solidFill>
              </a:defRPr>
            </a:pPr>
            <a:r>
              <a:rPr sz="4950" b="1">
                <a:solidFill>
                  <a:srgbClr val="F5F5F5"/>
                </a:solidFill>
              </a:rPr>
              <a:t>AI ускоряет</a:t>
            </a:r>
          </a:p>
          <a:p xmlns:a="http://schemas.openxmlformats.org/drawingml/2006/main">
            <a:pPr>
              <a:defRPr sz="4950" b="1">
                <a:solidFill>
                  <a:srgbClr val="F5F5F5"/>
                </a:solidFill>
              </a:defRPr>
            </a:pPr>
            <a:r>
              <a:rPr sz="4950" b="1">
                <a:solidFill>
                  <a:srgbClr val="F5F5F5"/>
                </a:solidFill>
              </a:rPr>
              <a:t>середину процесса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C3B3A7B8-6C91-465F-8EB7-99CC5B8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8A8A8"/>
                </a:solidFill>
              </a:defRPr>
            </a:pPr>
            <a:r>
              <a:rPr sz="2025" b="0">
                <a:solidFill>
                  <a:srgbClr val="A8A8A8"/>
                </a:solidFill>
              </a:rPr>
              <a:t>Критичнее становятся контуры до и после исполнения.</a:t>
            </a:r>
          </a:p>
        </p:txBody>
      </p:sp>
      <p:sp>
        <p:nvSpPr>
          <p:cNvPr id="6" name="axis-1">
            <a:extLst xmlns:a="http://schemas.openxmlformats.org/drawingml/2006/main">
              <a:ext uri="{FF2B5EF4-FFF2-40B4-BE49-F238E27FC236}">
                <a16:creationId xmlns:a16="http://schemas.microsoft.com/office/drawing/2014/main" id="{B6A9CCD5-58AC-4467-9329-F3F02BD0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xis-label-1">
            <a:extLst xmlns:a="http://schemas.openxmlformats.org/drawingml/2006/main">
              <a:ext uri="{FF2B5EF4-FFF2-40B4-BE49-F238E27FC236}">
                <a16:creationId xmlns:a16="http://schemas.microsoft.com/office/drawing/2014/main" id="{F19A987E-7BEE-4DB0-8369-F5A40223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A8A8"/>
                </a:solidFill>
              </a:defRPr>
            </a:pPr>
            <a:r>
              <a:rPr sz="1500" b="1">
                <a:solidFill>
                  <a:srgbClr val="A8A8A8"/>
                </a:solidFill>
              </a:rPr>
              <a:t>постановка</a:t>
            </a:r>
          </a:p>
        </p:txBody>
      </p:sp>
      <p:sp>
        <p:nvSpPr>
          <p:cNvPr id="8" name="axis-2">
            <a:extLst xmlns:a="http://schemas.openxmlformats.org/drawingml/2006/main">
              <a:ext uri="{FF2B5EF4-FFF2-40B4-BE49-F238E27FC236}">
                <a16:creationId xmlns:a16="http://schemas.microsoft.com/office/drawing/2014/main" id="{556EE301-A761-4A2D-BAB7-F80B479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53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xis-label-2">
            <a:extLst xmlns:a="http://schemas.openxmlformats.org/drawingml/2006/main">
              <a:ext uri="{FF2B5EF4-FFF2-40B4-BE49-F238E27FC236}">
                <a16:creationId xmlns:a16="http://schemas.microsoft.com/office/drawing/2014/main" id="{0B815ADF-2EC8-422F-BB85-9682A5B9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005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A8A8"/>
                </a:solidFill>
              </a:defRPr>
            </a:pPr>
            <a:r>
              <a:rPr sz="1500" b="1">
                <a:solidFill>
                  <a:srgbClr val="A8A8A8"/>
                </a:solidFill>
              </a:rPr>
              <a:t>контекст</a:t>
            </a:r>
          </a:p>
        </p:txBody>
      </p:sp>
      <p:sp>
        <p:nvSpPr>
          <p:cNvPr id="10" name="axis-3">
            <a:extLst xmlns:a="http://schemas.openxmlformats.org/drawingml/2006/main">
              <a:ext uri="{FF2B5EF4-FFF2-40B4-BE49-F238E27FC236}">
                <a16:creationId xmlns:a16="http://schemas.microsoft.com/office/drawing/2014/main" id="{ACFA1577-4DBD-4343-B71A-8F380A1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53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xis-label-3">
            <a:extLst xmlns:a="http://schemas.openxmlformats.org/drawingml/2006/main">
              <a:ext uri="{FF2B5EF4-FFF2-40B4-BE49-F238E27FC236}">
                <a16:creationId xmlns:a16="http://schemas.microsoft.com/office/drawing/2014/main" id="{A5A52213-9B9B-4168-A3AF-DF0BCEF2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005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5F5"/>
                </a:solidFill>
              </a:defRPr>
            </a:pPr>
            <a:r>
              <a:rPr sz="1500" b="1">
                <a:solidFill>
                  <a:srgbClr val="F5F5F5"/>
                </a:solidFill>
              </a:rPr>
              <a:t>архитектура</a:t>
            </a:r>
          </a:p>
        </p:txBody>
      </p:sp>
      <p:sp>
        <p:nvSpPr>
          <p:cNvPr id="12" name="axis-4">
            <a:extLst xmlns:a="http://schemas.openxmlformats.org/drawingml/2006/main">
              <a:ext uri="{FF2B5EF4-FFF2-40B4-BE49-F238E27FC236}">
                <a16:creationId xmlns:a16="http://schemas.microsoft.com/office/drawing/2014/main" id="{179CC2B3-3D34-46B3-AB23-EF71821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xis-label-4">
            <a:extLst xmlns:a="http://schemas.openxmlformats.org/drawingml/2006/main">
              <a:ext uri="{FF2B5EF4-FFF2-40B4-BE49-F238E27FC236}">
                <a16:creationId xmlns:a16="http://schemas.microsoft.com/office/drawing/2014/main" id="{912A5FB8-335F-4183-90D2-16A14798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A8A8"/>
                </a:solidFill>
              </a:defRPr>
            </a:pPr>
            <a:r>
              <a:rPr sz="1500" b="1">
                <a:solidFill>
                  <a:srgbClr val="A8A8A8"/>
                </a:solidFill>
              </a:rPr>
              <a:t>проверка</a:t>
            </a:r>
          </a:p>
        </p:txBody>
      </p:sp>
      <p:sp>
        <p:nvSpPr>
          <p:cNvPr id="14" name="axis-5">
            <a:extLst xmlns:a="http://schemas.openxmlformats.org/drawingml/2006/main">
              <a:ext uri="{FF2B5EF4-FFF2-40B4-BE49-F238E27FC236}">
                <a16:creationId xmlns:a16="http://schemas.microsoft.com/office/drawing/2014/main" id="{DB05E6DA-B41C-4FDD-A035-B562E2CB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530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xis-label-5">
            <a:extLst xmlns:a="http://schemas.openxmlformats.org/drawingml/2006/main">
              <a:ext uri="{FF2B5EF4-FFF2-40B4-BE49-F238E27FC236}">
                <a16:creationId xmlns:a16="http://schemas.microsoft.com/office/drawing/2014/main" id="{59778945-D52C-46A5-A68E-31AB6A19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0055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A8A8"/>
                </a:solidFill>
              </a:defRPr>
            </a:pPr>
            <a:r>
              <a:rPr sz="1500" b="1">
                <a:solidFill>
                  <a:srgbClr val="A8A8A8"/>
                </a:solidFill>
              </a:rPr>
              <a:t>риск</a:t>
            </a:r>
          </a:p>
        </p:txBody>
      </p:sp>
      <p:sp>
        <p:nvSpPr>
          <p:cNvPr id="16" name="bottom-equation">
            <a:extLst xmlns:a="http://schemas.openxmlformats.org/drawingml/2006/main">
              <a:ext uri="{FF2B5EF4-FFF2-40B4-BE49-F238E27FC236}">
                <a16:creationId xmlns:a16="http://schemas.microsoft.com/office/drawing/2014/main" id="{6CAEDA03-EAB5-4ACD-B264-F0C844E9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34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5"/>
                </a:solidFill>
              </a:defRPr>
            </a:pPr>
            <a:r>
              <a:rPr sz="2100" b="1">
                <a:solidFill>
                  <a:srgbClr val="F5F5F5"/>
                </a:solidFill>
              </a:rPr>
              <a:t>AI-native PDLC = новая скорость + управление</a:t>
            </a:r>
          </a:p>
        </p:txBody>
      </p:sp>
    </p:spTree>
    <p:extLst>
      <p:ext uri="{BB962C8B-B14F-4D97-AF65-F5344CB8AC3E}">
        <p14:creationId xmlns:p14="http://schemas.microsoft.com/office/powerpoint/2010/main" val="11769842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1B7F6091-A66E-4E40-A25C-2F092A0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73A105-70CE-4FE9-884C-A019EDC1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04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ECF104C-B132-4F43-9A0C-084DE3A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ОГРАНИЧЕНИЕ ПЕРЕНОСИТСЯ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73B7A9-33D7-4F36-958A-77B3B74A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5F5F5"/>
                </a:solidFill>
              </a:defRPr>
            </a:pPr>
            <a:r>
              <a:rPr sz="5700" b="1">
                <a:solidFill>
                  <a:srgbClr val="F5F5F5"/>
                </a:solidFill>
              </a:rPr>
              <a:t>Новое</a:t>
            </a:r>
          </a:p>
          <a:p xmlns:a="http://schemas.openxmlformats.org/drawingml/2006/main">
            <a:pPr>
              <a:defRPr sz="5700" b="1">
                <a:solidFill>
                  <a:srgbClr val="F5F5F5"/>
                </a:solidFill>
              </a:defRPr>
            </a:pPr>
            <a:r>
              <a:rPr sz="5700" b="1">
                <a:solidFill>
                  <a:srgbClr val="F5F5F5"/>
                </a:solidFill>
              </a:rPr>
              <a:t>узкое место</a:t>
            </a:r>
          </a:p>
        </p:txBody>
      </p:sp>
      <p:sp>
        <p:nvSpPr>
          <p:cNvPr id="5" name="input-box">
            <a:extLst xmlns:a="http://schemas.openxmlformats.org/drawingml/2006/main">
              <a:ext uri="{FF2B5EF4-FFF2-40B4-BE49-F238E27FC236}">
                <a16:creationId xmlns:a16="http://schemas.microsoft.com/office/drawing/2014/main" id="{784FB8F5-760B-47DA-9F3C-826B82DB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95400"/>
            <a:ext cx="4819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put-box-accent">
            <a:extLst xmlns:a="http://schemas.openxmlformats.org/drawingml/2006/main">
              <a:ext uri="{FF2B5EF4-FFF2-40B4-BE49-F238E27FC236}">
                <a16:creationId xmlns:a16="http://schemas.microsoft.com/office/drawing/2014/main" id="{CEADCEDE-4038-4B23-99A3-62EB0972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954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put-box-title">
            <a:extLst xmlns:a="http://schemas.openxmlformats.org/drawingml/2006/main">
              <a:ext uri="{FF2B5EF4-FFF2-40B4-BE49-F238E27FC236}">
                <a16:creationId xmlns:a16="http://schemas.microsoft.com/office/drawing/2014/main" id="{8CDA5D25-4BC5-4A01-8D5D-D694B5E4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430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На входе</a:t>
            </a:r>
          </a:p>
        </p:txBody>
      </p:sp>
      <p:sp>
        <p:nvSpPr>
          <p:cNvPr id="8" name="input-box-body">
            <a:extLst xmlns:a="http://schemas.openxmlformats.org/drawingml/2006/main">
              <a:ext uri="{FF2B5EF4-FFF2-40B4-BE49-F238E27FC236}">
                <a16:creationId xmlns:a16="http://schemas.microsoft.com/office/drawing/2014/main" id="{82C61F40-CDCF-4DCD-9076-C55EE66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product-намерение, спецификация, данные</a:t>
            </a:r>
          </a:p>
        </p:txBody>
      </p:sp>
      <p:sp>
        <p:nvSpPr>
          <p:cNvPr id="9" name="output-box">
            <a:extLst xmlns:a="http://schemas.openxmlformats.org/drawingml/2006/main">
              <a:ext uri="{FF2B5EF4-FFF2-40B4-BE49-F238E27FC236}">
                <a16:creationId xmlns:a16="http://schemas.microsoft.com/office/drawing/2014/main" id="{F5731674-C2D6-46CD-9E0F-74DF5F9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52850"/>
            <a:ext cx="4819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put-box-accent">
            <a:extLst xmlns:a="http://schemas.openxmlformats.org/drawingml/2006/main">
              <a:ext uri="{FF2B5EF4-FFF2-40B4-BE49-F238E27FC236}">
                <a16:creationId xmlns:a16="http://schemas.microsoft.com/office/drawing/2014/main" id="{EC02D920-A52D-469E-B803-90B9987D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528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put-box-title">
            <a:extLst xmlns:a="http://schemas.openxmlformats.org/drawingml/2006/main">
              <a:ext uri="{FF2B5EF4-FFF2-40B4-BE49-F238E27FC236}">
                <a16:creationId xmlns:a16="http://schemas.microsoft.com/office/drawing/2014/main" id="{1FA597D2-72AB-4072-9201-F9E157ED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На выходе</a:t>
            </a:r>
          </a:p>
        </p:txBody>
      </p:sp>
      <p:sp>
        <p:nvSpPr>
          <p:cNvPr id="12" name="output-box-body">
            <a:extLst xmlns:a="http://schemas.openxmlformats.org/drawingml/2006/main">
              <a:ext uri="{FF2B5EF4-FFF2-40B4-BE49-F238E27FC236}">
                <a16:creationId xmlns:a16="http://schemas.microsoft.com/office/drawing/2014/main" id="{8C7D27AB-D637-4F20-B5B6-2489EA08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проверка, QA, security, privacy, ответственность</a:t>
            </a:r>
          </a:p>
        </p:txBody>
      </p:sp>
      <p:sp>
        <p:nvSpPr>
          <p:cNvPr id="13" name="connector">
            <a:extLst xmlns:a="http://schemas.openxmlformats.org/drawingml/2006/main">
              <a:ext uri="{FF2B5EF4-FFF2-40B4-BE49-F238E27FC236}">
                <a16:creationId xmlns:a16="http://schemas.microsoft.com/office/drawing/2014/main" id="{F061423E-F82A-4E3F-BE9D-27C89D4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2990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tement">
            <a:extLst xmlns:a="http://schemas.openxmlformats.org/drawingml/2006/main">
              <a:ext uri="{FF2B5EF4-FFF2-40B4-BE49-F238E27FC236}">
                <a16:creationId xmlns:a16="http://schemas.microsoft.com/office/drawing/2014/main" id="{BB0A74E8-45D4-4D14-A657-87DEF602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38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8A8A8"/>
                </a:solidFill>
              </a:defRPr>
            </a:pPr>
            <a:r>
              <a:rPr sz="1875" b="0">
                <a:solidFill>
                  <a:srgbClr val="A8A8A8"/>
                </a:solidFill>
              </a:rPr>
              <a:t>Если эти зоны не усилены, AI ускоряет поток работы, но не обязательно увеличивает бизнес-эффект.</a:t>
            </a:r>
          </a:p>
        </p:txBody>
      </p:sp>
    </p:spTree>
    <p:extLst>
      <p:ext uri="{BB962C8B-B14F-4D97-AF65-F5344CB8AC3E}">
        <p14:creationId xmlns:p14="http://schemas.microsoft.com/office/powerpoint/2010/main" val="617283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D73A9C24-DD57-4D0A-8684-08F9935A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BF9B94-49F4-4409-A23F-622107D5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05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FB15265-5594-486D-B1A3-D67A99F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ПОТЕРЯ ЭФФЕКТА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CEBBC5-ABC9-4A29-A870-0F039D1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Это не проблема</a:t>
            </a:r>
          </a:p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AI-инструментов.</a:t>
            </a:r>
          </a:p>
        </p:txBody>
      </p:sp>
      <p:sp>
        <p:nvSpPr>
          <p:cNvPr id="5" name="punch">
            <a:extLst xmlns:a="http://schemas.openxmlformats.org/drawingml/2006/main">
              <a:ext uri="{FF2B5EF4-FFF2-40B4-BE49-F238E27FC236}">
                <a16:creationId xmlns:a16="http://schemas.microsoft.com/office/drawing/2014/main" id="{641E6D3E-979D-4C33-A40C-832C723D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94957"/>
                </a:solidFill>
              </a:defRPr>
            </a:pPr>
            <a:r>
              <a:rPr sz="3900" b="1">
                <a:solidFill>
                  <a:srgbClr val="E94957"/>
                </a:solidFill>
              </a:rPr>
              <a:t>Это проблема PDLC.</a:t>
            </a:r>
          </a:p>
        </p:txBody>
      </p:sp>
      <p:sp>
        <p:nvSpPr>
          <p:cNvPr id="6" name="loss-points">
            <a:extLst xmlns:a="http://schemas.openxmlformats.org/drawingml/2006/main">
              <a:ext uri="{FF2B5EF4-FFF2-40B4-BE49-F238E27FC236}">
                <a16:creationId xmlns:a16="http://schemas.microsoft.com/office/drawing/2014/main" id="{04486025-1AA7-41F6-9434-E0F26D7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95450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• product-вход слишком общий</a:t>
            </a:r>
          </a:p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• данные не вызывают доверия</a:t>
            </a:r>
          </a:p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• QA остается в конце</a:t>
            </a:r>
          </a:p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• сигнал «готово» недостаточен</a:t>
            </a:r>
          </a:p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• зоны ответственности размыты</a:t>
            </a:r>
          </a:p>
        </p:txBody>
      </p:sp>
      <p:sp>
        <p:nvSpPr>
          <p:cNvPr id="7" name="corner-accent">
            <a:extLst xmlns:a="http://schemas.openxmlformats.org/drawingml/2006/main">
              <a:ext uri="{FF2B5EF4-FFF2-40B4-BE49-F238E27FC236}">
                <a16:creationId xmlns:a16="http://schemas.microsoft.com/office/drawing/2014/main" id="{20094674-A146-4A8D-9457-8825B082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85850" y="48958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2502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29B159F7-2C21-479D-9541-56D05B42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59DFA7-60EA-4955-8A50-CC9367E9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06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A760706-3ED6-4891-A917-8A4D5C7A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ЗРЕЛОСТЬ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C930AB-9604-4F9F-84C6-8233E66B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0965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Зрелый PDLC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видит скорость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и риск одновременно</a:t>
            </a:r>
          </a:p>
        </p:txBody>
      </p:sp>
      <p:sp>
        <p:nvSpPr>
          <p:cNvPr id="5" name="maturity-1">
            <a:extLst xmlns:a="http://schemas.openxmlformats.org/drawingml/2006/main">
              <a:ext uri="{FF2B5EF4-FFF2-40B4-BE49-F238E27FC236}">
                <a16:creationId xmlns:a16="http://schemas.microsoft.com/office/drawing/2014/main" id="{35E75456-5E51-4BBB-BFE1-D8EF79CE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urity-1-accent">
            <a:extLst xmlns:a="http://schemas.openxmlformats.org/drawingml/2006/main">
              <a:ext uri="{FF2B5EF4-FFF2-40B4-BE49-F238E27FC236}">
                <a16:creationId xmlns:a16="http://schemas.microsoft.com/office/drawing/2014/main" id="{8CCD6B11-D108-4664-916D-C7161A5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turity-1-title">
            <a:extLst xmlns:a="http://schemas.openxmlformats.org/drawingml/2006/main">
              <a:ext uri="{FF2B5EF4-FFF2-40B4-BE49-F238E27FC236}">
                <a16:creationId xmlns:a16="http://schemas.microsoft.com/office/drawing/2014/main" id="{6738D0B4-D8DF-4C4E-9AE3-FB04706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ускорение</a:t>
            </a:r>
          </a:p>
        </p:txBody>
      </p:sp>
      <p:sp>
        <p:nvSpPr>
          <p:cNvPr id="8" name="maturity-1-body">
            <a:extLst xmlns:a="http://schemas.openxmlformats.org/drawingml/2006/main">
              <a:ext uri="{FF2B5EF4-FFF2-40B4-BE49-F238E27FC236}">
                <a16:creationId xmlns:a16="http://schemas.microsoft.com/office/drawing/2014/main" id="{3965061E-7DF6-4AAF-8FCC-298F1F1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4003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где AI реально увеличивает delivery</a:t>
            </a:r>
          </a:p>
        </p:txBody>
      </p:sp>
      <p:sp>
        <p:nvSpPr>
          <p:cNvPr id="9" name="maturity-2">
            <a:extLst xmlns:a="http://schemas.openxmlformats.org/drawingml/2006/main">
              <a:ext uri="{FF2B5EF4-FFF2-40B4-BE49-F238E27FC236}">
                <a16:creationId xmlns:a16="http://schemas.microsoft.com/office/drawing/2014/main" id="{17E37658-BA82-4BC8-A652-AD44A900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urity-2-accent">
            <a:extLst xmlns:a="http://schemas.openxmlformats.org/drawingml/2006/main">
              <a:ext uri="{FF2B5EF4-FFF2-40B4-BE49-F238E27FC236}">
                <a16:creationId xmlns:a16="http://schemas.microsoft.com/office/drawing/2014/main" id="{0D85D38E-766E-4D9F-BEDC-389ED66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turity-2-title">
            <a:extLst xmlns:a="http://schemas.openxmlformats.org/drawingml/2006/main">
              <a:ext uri="{FF2B5EF4-FFF2-40B4-BE49-F238E27FC236}">
                <a16:creationId xmlns:a16="http://schemas.microsoft.com/office/drawing/2014/main" id="{D30DB30C-7420-4F7F-8B4D-F00EC75F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72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риск</a:t>
            </a:r>
          </a:p>
        </p:txBody>
      </p:sp>
      <p:sp>
        <p:nvSpPr>
          <p:cNvPr id="12" name="maturity-2-body">
            <a:extLst xmlns:a="http://schemas.openxmlformats.org/drawingml/2006/main">
              <a:ext uri="{FF2B5EF4-FFF2-40B4-BE49-F238E27FC236}">
                <a16:creationId xmlns:a16="http://schemas.microsoft.com/office/drawing/2014/main" id="{2525C333-8F99-4B98-BD9A-9B91756D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24003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где скорость создает новые потери</a:t>
            </a:r>
          </a:p>
        </p:txBody>
      </p:sp>
      <p:sp>
        <p:nvSpPr>
          <p:cNvPr id="13" name="maturity-3">
            <a:extLst xmlns:a="http://schemas.openxmlformats.org/drawingml/2006/main">
              <a:ext uri="{FF2B5EF4-FFF2-40B4-BE49-F238E27FC236}">
                <a16:creationId xmlns:a16="http://schemas.microsoft.com/office/drawing/2014/main" id="{36698B05-44DA-43A2-B75F-DCADCF37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urity-3-accent">
            <a:extLst xmlns:a="http://schemas.openxmlformats.org/drawingml/2006/main">
              <a:ext uri="{FF2B5EF4-FFF2-40B4-BE49-F238E27FC236}">
                <a16:creationId xmlns:a16="http://schemas.microsoft.com/office/drawing/2014/main" id="{A6FE16AD-16F1-47E0-86AA-C5563775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243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turity-3-title">
            <a:extLst xmlns:a="http://schemas.openxmlformats.org/drawingml/2006/main">
              <a:ext uri="{FF2B5EF4-FFF2-40B4-BE49-F238E27FC236}">
                <a16:creationId xmlns:a16="http://schemas.microsoft.com/office/drawing/2014/main" id="{EC2690C8-A52B-48E1-814A-B694F027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владение</a:t>
            </a:r>
          </a:p>
        </p:txBody>
      </p:sp>
      <p:sp>
        <p:nvSpPr>
          <p:cNvPr id="16" name="maturity-3-body">
            <a:extLst xmlns:a="http://schemas.openxmlformats.org/drawingml/2006/main">
              <a:ext uri="{FF2B5EF4-FFF2-40B4-BE49-F238E27FC236}">
                <a16:creationId xmlns:a16="http://schemas.microsoft.com/office/drawing/2014/main" id="{D3988484-D1D6-4E6B-A961-4A387802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67300"/>
            <a:ext cx="24003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кто отвечает за результат</a:t>
            </a:r>
          </a:p>
        </p:txBody>
      </p:sp>
      <p:sp>
        <p:nvSpPr>
          <p:cNvPr id="17" name="maturity-4">
            <a:extLst xmlns:a="http://schemas.openxmlformats.org/drawingml/2006/main">
              <a:ext uri="{FF2B5EF4-FFF2-40B4-BE49-F238E27FC236}">
                <a16:creationId xmlns:a16="http://schemas.microsoft.com/office/drawing/2014/main" id="{D505A97B-33B3-4F73-BFEF-8CB84424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urity-4-accent">
            <a:extLst xmlns:a="http://schemas.openxmlformats.org/drawingml/2006/main">
              <a:ext uri="{FF2B5EF4-FFF2-40B4-BE49-F238E27FC236}">
                <a16:creationId xmlns:a16="http://schemas.microsoft.com/office/drawing/2014/main" id="{69E8F1BA-0AC4-41FB-ABBD-EF5BD991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turity-4-title">
            <a:extLst xmlns:a="http://schemas.openxmlformats.org/drawingml/2006/main">
              <a:ext uri="{FF2B5EF4-FFF2-40B4-BE49-F238E27FC236}">
                <a16:creationId xmlns:a16="http://schemas.microsoft.com/office/drawing/2014/main" id="{FB7E6FC3-844D-4A22-82C8-4508CA0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качество</a:t>
            </a:r>
          </a:p>
        </p:txBody>
      </p:sp>
      <p:sp>
        <p:nvSpPr>
          <p:cNvPr id="20" name="maturity-4-body">
            <a:extLst xmlns:a="http://schemas.openxmlformats.org/drawingml/2006/main">
              <a:ext uri="{FF2B5EF4-FFF2-40B4-BE49-F238E27FC236}">
                <a16:creationId xmlns:a16="http://schemas.microsoft.com/office/drawing/2014/main" id="{804B4DBE-6369-450B-987E-28975AAB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62700"/>
            <a:ext cx="24003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как проверяется результат</a:t>
            </a:r>
          </a:p>
        </p:txBody>
      </p:sp>
      <p:sp>
        <p:nvSpPr>
          <p:cNvPr id="21" name="maturity-5">
            <a:extLst xmlns:a="http://schemas.openxmlformats.org/drawingml/2006/main">
              <a:ext uri="{FF2B5EF4-FFF2-40B4-BE49-F238E27FC236}">
                <a16:creationId xmlns:a16="http://schemas.microsoft.com/office/drawing/2014/main" id="{6EAD0D75-BBAF-4296-9DCA-E9700F0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19750"/>
            <a:ext cx="2895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aturity-5-accent">
            <a:extLst xmlns:a="http://schemas.openxmlformats.org/drawingml/2006/main">
              <a:ext uri="{FF2B5EF4-FFF2-40B4-BE49-F238E27FC236}">
                <a16:creationId xmlns:a16="http://schemas.microsoft.com/office/drawing/2014/main" id="{C16BAF30-0AF0-47FC-B0B6-76286F6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19750"/>
            <a:ext cx="666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aturity-5-title">
            <a:extLst xmlns:a="http://schemas.openxmlformats.org/drawingml/2006/main">
              <a:ext uri="{FF2B5EF4-FFF2-40B4-BE49-F238E27FC236}">
                <a16:creationId xmlns:a16="http://schemas.microsoft.com/office/drawing/2014/main" id="{BE3EAB38-8526-4232-8D25-CAC9029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674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метрики</a:t>
            </a:r>
          </a:p>
        </p:txBody>
      </p:sp>
      <p:sp>
        <p:nvSpPr>
          <p:cNvPr id="24" name="maturity-5-body">
            <a:extLst xmlns:a="http://schemas.openxmlformats.org/drawingml/2006/main">
              <a:ext uri="{FF2B5EF4-FFF2-40B4-BE49-F238E27FC236}">
                <a16:creationId xmlns:a16="http://schemas.microsoft.com/office/drawing/2014/main" id="{7AE79CF9-0A1F-4BE3-A428-54B20FD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62700"/>
            <a:ext cx="24003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где виден бизнес-эффект</a:t>
            </a:r>
          </a:p>
        </p:txBody>
      </p:sp>
    </p:spTree>
    <p:extLst>
      <p:ext uri="{BB962C8B-B14F-4D97-AF65-F5344CB8AC3E}">
        <p14:creationId xmlns:p14="http://schemas.microsoft.com/office/powerpoint/2010/main" val="1574281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D611A65A-287E-4C68-BB54-9528941D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1236CE-ECC5-4A9E-AA70-28B1CFF2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07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AF0D27-4D92-4D77-B034-D7C0BD3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ОРГАНИЗАЦИЯ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E4507F-EC26-451C-A6C1-240A2C8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638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AI-native PDLC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меняет не только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работу инженеров</a:t>
            </a:r>
          </a:p>
        </p:txBody>
      </p:sp>
      <p:sp>
        <p:nvSpPr>
          <p:cNvPr id="5" name="tag-1">
            <a:extLst xmlns:a="http://schemas.openxmlformats.org/drawingml/2006/main">
              <a:ext uri="{FF2B5EF4-FFF2-40B4-BE49-F238E27FC236}">
                <a16:creationId xmlns:a16="http://schemas.microsoft.com/office/drawing/2014/main" id="{783F1EA5-0858-4E75-9B74-C01D2E0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335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g-text-1">
            <a:extLst xmlns:a="http://schemas.openxmlformats.org/drawingml/2006/main">
              <a:ext uri="{FF2B5EF4-FFF2-40B4-BE49-F238E27FC236}">
                <a16:creationId xmlns:a16="http://schemas.microsoft.com/office/drawing/2014/main" id="{2F517A3D-90C4-4E3E-9632-480EEDA2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4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5F5"/>
                </a:solidFill>
              </a:defRPr>
            </a:pPr>
            <a:r>
              <a:rPr sz="1425" b="1">
                <a:solidFill>
                  <a:srgbClr val="F5F5F5"/>
                </a:solidFill>
              </a:rPr>
              <a:t>роли</a:t>
            </a:r>
          </a:p>
        </p:txBody>
      </p:sp>
      <p:sp>
        <p:nvSpPr>
          <p:cNvPr id="7" name="tag-2">
            <a:extLst xmlns:a="http://schemas.openxmlformats.org/drawingml/2006/main">
              <a:ext uri="{FF2B5EF4-FFF2-40B4-BE49-F238E27FC236}">
                <a16:creationId xmlns:a16="http://schemas.microsoft.com/office/drawing/2014/main" id="{BA6CAF89-8181-42FD-BC58-397074F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335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g-text-2">
            <a:extLst xmlns:a="http://schemas.openxmlformats.org/drawingml/2006/main">
              <a:ext uri="{FF2B5EF4-FFF2-40B4-BE49-F238E27FC236}">
                <a16:creationId xmlns:a16="http://schemas.microsoft.com/office/drawing/2014/main" id="{48A3F54F-B0A3-4EA9-AC08-9E8FDC09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049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5F5"/>
                </a:solidFill>
              </a:defRPr>
            </a:pPr>
            <a:r>
              <a:rPr sz="1425" b="1">
                <a:solidFill>
                  <a:srgbClr val="F5F5F5"/>
                </a:solidFill>
              </a:rPr>
              <a:t>ответственность</a:t>
            </a:r>
          </a:p>
        </p:txBody>
      </p:sp>
      <p:sp>
        <p:nvSpPr>
          <p:cNvPr id="9" name="tag-3">
            <a:extLst xmlns:a="http://schemas.openxmlformats.org/drawingml/2006/main">
              <a:ext uri="{FF2B5EF4-FFF2-40B4-BE49-F238E27FC236}">
                <a16:creationId xmlns:a16="http://schemas.microsoft.com/office/drawing/2014/main" id="{C07C5EEB-EB8F-4FA4-BCFD-50963DB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g-text-3">
            <a:extLst xmlns:a="http://schemas.openxmlformats.org/drawingml/2006/main">
              <a:ext uri="{FF2B5EF4-FFF2-40B4-BE49-F238E27FC236}">
                <a16:creationId xmlns:a16="http://schemas.microsoft.com/office/drawing/2014/main" id="{AEB7ADEB-B9D4-4AF3-9750-E25246A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5F5"/>
                </a:solidFill>
              </a:defRPr>
            </a:pPr>
            <a:r>
              <a:rPr sz="1425" b="1">
                <a:solidFill>
                  <a:srgbClr val="F5F5F5"/>
                </a:solidFill>
              </a:rPr>
              <a:t>разработка</a:t>
            </a:r>
          </a:p>
        </p:txBody>
      </p:sp>
      <p:sp>
        <p:nvSpPr>
          <p:cNvPr id="11" name="tag-4">
            <a:extLst xmlns:a="http://schemas.openxmlformats.org/drawingml/2006/main">
              <a:ext uri="{FF2B5EF4-FFF2-40B4-BE49-F238E27FC236}">
                <a16:creationId xmlns:a16="http://schemas.microsoft.com/office/drawing/2014/main" id="{8B6EF031-6B47-43D1-ACC5-8F69C44E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g-text-4">
            <a:extLst xmlns:a="http://schemas.openxmlformats.org/drawingml/2006/main">
              <a:ext uri="{FF2B5EF4-FFF2-40B4-BE49-F238E27FC236}">
                <a16:creationId xmlns:a16="http://schemas.microsoft.com/office/drawing/2014/main" id="{BA18F958-9C35-4BA1-96AC-2B01EC3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5F5"/>
                </a:solidFill>
              </a:defRPr>
            </a:pPr>
            <a:r>
              <a:rPr sz="1425" b="1">
                <a:solidFill>
                  <a:srgbClr val="F5F5F5"/>
                </a:solidFill>
              </a:rPr>
              <a:t>поставка ПО</a:t>
            </a:r>
          </a:p>
        </p:txBody>
      </p:sp>
      <p:sp>
        <p:nvSpPr>
          <p:cNvPr id="13" name="tag-5">
            <a:extLst xmlns:a="http://schemas.openxmlformats.org/drawingml/2006/main">
              <a:ext uri="{FF2B5EF4-FFF2-40B4-BE49-F238E27FC236}">
                <a16:creationId xmlns:a16="http://schemas.microsoft.com/office/drawing/2014/main" id="{486E203B-0091-4DA8-BBCF-38A58E20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g-text-5">
            <a:extLst xmlns:a="http://schemas.openxmlformats.org/drawingml/2006/main">
              <a:ext uri="{FF2B5EF4-FFF2-40B4-BE49-F238E27FC236}">
                <a16:creationId xmlns:a16="http://schemas.microsoft.com/office/drawing/2014/main" id="{89A7FC93-CE3E-45A2-B087-988F5F5B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5F5"/>
                </a:solidFill>
              </a:defRPr>
            </a:pPr>
            <a:r>
              <a:rPr sz="1425" b="1">
                <a:solidFill>
                  <a:srgbClr val="F5F5F5"/>
                </a:solidFill>
              </a:rPr>
              <a:t>качество</a:t>
            </a:r>
          </a:p>
        </p:txBody>
      </p:sp>
      <p:sp>
        <p:nvSpPr>
          <p:cNvPr id="15" name="tag-6">
            <a:extLst xmlns:a="http://schemas.openxmlformats.org/drawingml/2006/main">
              <a:ext uri="{FF2B5EF4-FFF2-40B4-BE49-F238E27FC236}">
                <a16:creationId xmlns:a16="http://schemas.microsoft.com/office/drawing/2014/main" id="{FA5730EE-9282-4F87-90EC-D8E72FCD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71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g-text-6">
            <a:extLst xmlns:a="http://schemas.openxmlformats.org/drawingml/2006/main">
              <a:ext uri="{FF2B5EF4-FFF2-40B4-BE49-F238E27FC236}">
                <a16:creationId xmlns:a16="http://schemas.microsoft.com/office/drawing/2014/main" id="{9D724CD9-AB85-4A86-90EF-87BB32B1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5F5"/>
                </a:solidFill>
              </a:defRPr>
            </a:pPr>
            <a:r>
              <a:rPr sz="1425" b="1">
                <a:solidFill>
                  <a:srgbClr val="F5F5F5"/>
                </a:solidFill>
              </a:rPr>
              <a:t>риски AI</a:t>
            </a:r>
          </a:p>
        </p:txBody>
      </p:sp>
      <p:sp>
        <p:nvSpPr>
          <p:cNvPr id="17" name="statement">
            <a:extLst xmlns:a="http://schemas.openxmlformats.org/drawingml/2006/main">
              <a:ext uri="{FF2B5EF4-FFF2-40B4-BE49-F238E27FC236}">
                <a16:creationId xmlns:a16="http://schemas.microsoft.com/office/drawing/2014/main" id="{7263329C-0759-42F2-87BF-94ED719E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8A8A8"/>
                </a:solidFill>
              </a:defRPr>
            </a:pPr>
            <a:r>
              <a:rPr sz="2100" b="0">
                <a:solidFill>
                  <a:srgbClr val="A8A8A8"/>
                </a:solidFill>
              </a:rPr>
              <a:t>Изменение скорости требует пересборки ролей, процесса и управленческого контура.</a:t>
            </a:r>
          </a:p>
        </p:txBody>
      </p:sp>
    </p:spTree>
    <p:extLst>
      <p:ext uri="{BB962C8B-B14F-4D97-AF65-F5344CB8AC3E}">
        <p14:creationId xmlns:p14="http://schemas.microsoft.com/office/powerpoint/2010/main" val="180050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88FA1C19-9E30-491A-AE91-F2E11E7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9864142-5392-45F2-A869-1BCC460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08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4AAEDB-3572-4021-8688-9C1CA0E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ВНЕШНИЙ КОНТУР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990A53-4256-4772-B006-9D73DC39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Deployment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требует не только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внутренней сборки</a:t>
            </a:r>
          </a:p>
        </p:txBody>
      </p:sp>
      <p:sp>
        <p:nvSpPr>
          <p:cNvPr id="5" name="stat-66">
            <a:extLst xmlns:a="http://schemas.openxmlformats.org/drawingml/2006/main">
              <a:ext uri="{FF2B5EF4-FFF2-40B4-BE49-F238E27FC236}">
                <a16:creationId xmlns:a16="http://schemas.microsoft.com/office/drawing/2014/main" id="{821F3FBD-2214-4334-B81A-872548E4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6205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94957"/>
                </a:solidFill>
              </a:defRPr>
            </a:pPr>
            <a:r>
              <a:rPr sz="5400" b="1">
                <a:solidFill>
                  <a:srgbClr val="E94957"/>
                </a:solidFill>
              </a:rPr>
              <a:t>~66–67%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2A7209E0-A323-40EA-AE02-B7DFC8CC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deployments при external partnerships</a:t>
            </a:r>
          </a:p>
          <a:p xmlns:a="http://schemas.openxmlformats.org/drawingml/2006/main">
            <a:pPr>
              <a:defRPr sz="1650" b="0">
                <a:solidFill>
                  <a:srgbClr val="F5F5F5"/>
                </a:solidFill>
              </a:defRPr>
            </a:pPr>
            <a:r>
              <a:rPr sz="1650" b="0">
                <a:solidFill>
                  <a:srgbClr val="F5F5F5"/>
                </a:solidFill>
              </a:rPr>
              <a:t>по MIT NANDA 2025</a:t>
            </a:r>
          </a:p>
        </p:txBody>
      </p:sp>
      <p:sp>
        <p:nvSpPr>
          <p:cNvPr id="7" name="stat-33">
            <a:extLst xmlns:a="http://schemas.openxmlformats.org/drawingml/2006/main">
              <a:ext uri="{FF2B5EF4-FFF2-40B4-BE49-F238E27FC236}">
                <a16:creationId xmlns:a16="http://schemas.microsoft.com/office/drawing/2014/main" id="{FF422CBE-098B-44F0-825C-F2B5E01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433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5F5F5"/>
                </a:solidFill>
              </a:defRPr>
            </a:pPr>
            <a:r>
              <a:rPr sz="4950" b="1">
                <a:solidFill>
                  <a:srgbClr val="F5F5F5"/>
                </a:solidFill>
              </a:rPr>
              <a:t>~33%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B8AA7C75-4657-46C6-89E5-D290EC61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A8A8"/>
                </a:solidFill>
              </a:defRPr>
            </a:pPr>
            <a:r>
              <a:rPr sz="1650" b="0">
                <a:solidFill>
                  <a:srgbClr val="A8A8A8"/>
                </a:solidFill>
              </a:rPr>
              <a:t>deployments при internal builds</a:t>
            </a:r>
          </a:p>
        </p:txBody>
      </p:sp>
      <p:sp>
        <p:nvSpPr>
          <p:cNvPr id="9" name="statement">
            <a:extLst xmlns:a="http://schemas.openxmlformats.org/drawingml/2006/main">
              <a:ext uri="{FF2B5EF4-FFF2-40B4-BE49-F238E27FC236}">
                <a16:creationId xmlns:a16="http://schemas.microsoft.com/office/drawing/2014/main" id="{8E77FDA0-1424-4452-8149-73C4D41F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8A8A8"/>
                </a:solidFill>
              </a:defRPr>
            </a:pPr>
            <a:r>
              <a:rPr sz="1875" b="0">
                <a:solidFill>
                  <a:srgbClr val="A8A8A8"/>
                </a:solidFill>
              </a:rPr>
              <a:t>Внешний advisory-контур повышает шанс встроить AI в PDLC, роли, качество и delivery.</a:t>
            </a:r>
          </a:p>
        </p:txBody>
      </p:sp>
    </p:spTree>
    <p:extLst>
      <p:ext uri="{BB962C8B-B14F-4D97-AF65-F5344CB8AC3E}">
        <p14:creationId xmlns:p14="http://schemas.microsoft.com/office/powerpoint/2010/main" val="797101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8BD883D0-0575-4BC4-9BE8-0A3BBDD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E09D85-989F-4719-B459-5DA93F82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09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2E6A2D9-3974-4612-BD2D-59BF7FB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РОЛЬ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646C8F-C909-4A0E-8C97-047D595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Перевести AI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из локальных практик</a:t>
            </a:r>
          </a:p>
          <a:p xmlns:a="http://schemas.openxmlformats.org/drawingml/2006/main">
            <a:pPr>
              <a:defRPr sz="4350" b="1">
                <a:solidFill>
                  <a:srgbClr val="F5F5F5"/>
                </a:solidFill>
              </a:defRPr>
            </a:pPr>
            <a:r>
              <a:rPr sz="4350" b="1">
                <a:solidFill>
                  <a:srgbClr val="F5F5F5"/>
                </a:solidFill>
              </a:rPr>
              <a:t>в управляемую систему</a:t>
            </a:r>
          </a:p>
        </p:txBody>
      </p:sp>
      <p:sp>
        <p:nvSpPr>
          <p:cNvPr id="5" name="step-line-1">
            <a:extLst xmlns:a="http://schemas.openxmlformats.org/drawingml/2006/main">
              <a:ext uri="{FF2B5EF4-FFF2-40B4-BE49-F238E27FC236}">
                <a16:creationId xmlns:a16="http://schemas.microsoft.com/office/drawing/2014/main" id="{FAD805B1-B13A-4DFE-947A-0CBB61FA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68E77786-A35C-4CC8-ACC1-E6528FE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рамка AI-native PDLC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F2FB5DB7-9B11-43A8-96FD-869EFD3A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1771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639E5E71-1DF3-4F4B-BABA-93C1063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529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5F5"/>
                </a:solidFill>
              </a:defRPr>
            </a:pPr>
            <a:r>
              <a:rPr sz="1800" b="0">
                <a:solidFill>
                  <a:srgbClr val="F5F5F5"/>
                </a:solidFill>
              </a:rPr>
              <a:t>организационные решения</a:t>
            </a:r>
          </a:p>
        </p:txBody>
      </p:sp>
      <p:sp>
        <p:nvSpPr>
          <p:cNvPr id="9" name="step-line-3">
            <a:extLst xmlns:a="http://schemas.openxmlformats.org/drawingml/2006/main">
              <a:ext uri="{FF2B5EF4-FFF2-40B4-BE49-F238E27FC236}">
                <a16:creationId xmlns:a16="http://schemas.microsoft.com/office/drawing/2014/main" id="{02C2A79D-1A6E-4F21-95E2-4917AD88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49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7C84F2F8-8FA8-4118-AED1-252E023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05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5F5"/>
                </a:solidFill>
              </a:defRPr>
            </a:pPr>
            <a:r>
              <a:rPr sz="1800" b="0">
                <a:solidFill>
                  <a:srgbClr val="F5F5F5"/>
                </a:solidFill>
              </a:rPr>
              <a:t>связка delivery, качества и рисков</a:t>
            </a:r>
          </a:p>
        </p:txBody>
      </p:sp>
      <p:sp>
        <p:nvSpPr>
          <p:cNvPr id="11" name="step-line-4">
            <a:extLst xmlns:a="http://schemas.openxmlformats.org/drawingml/2006/main">
              <a:ext uri="{FF2B5EF4-FFF2-40B4-BE49-F238E27FC236}">
                <a16:creationId xmlns:a16="http://schemas.microsoft.com/office/drawing/2014/main" id="{7459C4BD-E312-43BC-B114-2944D1D7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9775"/>
            <a:ext cx="3219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8797024F-CB97-4DE2-A5E6-F0984381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6578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5F5"/>
                </a:solidFill>
              </a:defRPr>
            </a:pPr>
            <a:r>
              <a:rPr sz="1800" b="0">
                <a:solidFill>
                  <a:srgbClr val="F5F5F5"/>
                </a:solidFill>
              </a:rPr>
              <a:t>удержание до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1548423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938DD474-A150-4EEE-B861-56E8FE9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0978F15-DE21-41C8-816A-C570616A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4749593-6BED-49DC-B646-363CB6F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ВЛАДИМИР СЕМЕНЮК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A843AE-F932-40EE-A9CE-E81F415E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552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Независимый</a:t>
            </a:r>
          </a:p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консультант</a:t>
            </a:r>
          </a:p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и advisor</a:t>
            </a:r>
          </a:p>
        </p:txBody>
      </p:sp>
      <p:sp>
        <p:nvSpPr>
          <p:cNvPr id="5" name="right-panel">
            <a:extLst xmlns:a="http://schemas.openxmlformats.org/drawingml/2006/main">
              <a:ext uri="{FF2B5EF4-FFF2-40B4-BE49-F238E27FC236}">
                <a16:creationId xmlns:a16="http://schemas.microsoft.com/office/drawing/2014/main" id="{2587DCC3-849B-4BB3-A5FB-2B8EFA70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0"/>
            <a:ext cx="5200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557D45-9923-43C2-885E-16F99725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0668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5F5"/>
                </a:solidFill>
              </a:defRPr>
            </a:pPr>
            <a:r>
              <a:rPr sz="3600" b="1">
                <a:solidFill>
                  <a:srgbClr val="F5F5F5"/>
                </a:solidFill>
              </a:rPr>
              <a:t>CTO / CIO</a:t>
            </a:r>
          </a:p>
          <a:p xmlns:a="http://schemas.openxmlformats.org/drawingml/2006/main">
            <a:pPr>
              <a:defRPr sz="3600" b="1">
                <a:solidFill>
                  <a:srgbClr val="F5F5F5"/>
                </a:solidFill>
              </a:defRPr>
            </a:pPr>
            <a:r>
              <a:rPr sz="3600" b="1">
                <a:solidFill>
                  <a:srgbClr val="F5F5F5"/>
                </a:solidFill>
              </a:rPr>
              <a:t>траектория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6735D2EA-9444-494B-AD2C-DA6B92D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20+ руководителей, которых сопровождал на траектории CTO / VP Engineering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85E6F288-C139-4011-9866-F373A820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243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AI-трансформация через роли, delivery, качество и управленческий контур</a:t>
            </a:r>
          </a:p>
        </p:txBody>
      </p:sp>
      <p:sp>
        <p:nvSpPr>
          <p:cNvPr id="9" name="statement">
            <a:extLst xmlns:a="http://schemas.openxmlformats.org/drawingml/2006/main">
              <a:ext uri="{FF2B5EF4-FFF2-40B4-BE49-F238E27FC236}">
                <a16:creationId xmlns:a16="http://schemas.microsoft.com/office/drawing/2014/main" id="{65183B4F-F23B-4A4D-B56D-11E3C2DC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8A8A8"/>
                </a:solidFill>
              </a:defRPr>
            </a:pPr>
            <a:r>
              <a:rPr sz="1800" b="0">
                <a:solidFill>
                  <a:srgbClr val="A8A8A8"/>
                </a:solidFill>
              </a:rPr>
              <a:t>Моя зона — превращать AI из локальных практик команд в управляемую систему разработки и поставки ПО.</a:t>
            </a:r>
          </a:p>
        </p:txBody>
      </p:sp>
    </p:spTree>
    <p:extLst>
      <p:ext uri="{BB962C8B-B14F-4D97-AF65-F5344CB8AC3E}">
        <p14:creationId xmlns:p14="http://schemas.microsoft.com/office/powerpoint/2010/main" val="670290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E0AB1C14-4076-4E2F-B1F8-3291D492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59D4423-C4A6-487C-8629-B74930C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DC5D384-90ED-43E2-9BD2-919D1FCC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КЕЙС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D65F55-B3AB-4027-97BA-B0AA2C81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5F5F5"/>
                </a:solidFill>
              </a:defRPr>
            </a:pPr>
            <a:r>
              <a:rPr sz="4650" b="1">
                <a:solidFill>
                  <a:srgbClr val="F5F5F5"/>
                </a:solidFill>
              </a:rPr>
              <a:t>AI-трансформация</a:t>
            </a:r>
          </a:p>
          <a:p xmlns:a="http://schemas.openxmlformats.org/drawingml/2006/main">
            <a:pPr>
              <a:defRPr sz="4650" b="1">
                <a:solidFill>
                  <a:srgbClr val="F5F5F5"/>
                </a:solidFill>
              </a:defRPr>
            </a:pPr>
            <a:r>
              <a:rPr sz="4650" b="1">
                <a:solidFill>
                  <a:srgbClr val="F5F5F5"/>
                </a:solidFill>
              </a:rPr>
              <a:t>маркетплейс-компании</a:t>
            </a:r>
          </a:p>
        </p:txBody>
      </p:sp>
      <p:sp>
        <p:nvSpPr>
          <p:cNvPr id="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802C4989-49AB-470F-9187-C33721FA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5F5F5"/>
                </a:solidFill>
              </a:defRPr>
            </a:pPr>
            <a:r>
              <a:rPr sz="5100" b="1">
                <a:solidFill>
                  <a:srgbClr val="F5F5F5"/>
                </a:solidFill>
              </a:rPr>
              <a:t>300+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99277B54-1B14-4A6E-B32A-7F9A9A50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8A8A8"/>
                </a:solidFill>
              </a:defRPr>
            </a:pPr>
            <a:r>
              <a:rPr sz="1575" b="0">
                <a:solidFill>
                  <a:srgbClr val="A8A8A8"/>
                </a:solidFill>
              </a:rPr>
              <a:t>человек</a:t>
            </a:r>
          </a:p>
        </p:txBody>
      </p:sp>
      <p:sp>
        <p:nvSpPr>
          <p:cNvPr id="7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EF7F9CD-706C-4B79-BB3D-F5E102DA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24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5F5F5"/>
                </a:solidFill>
              </a:defRPr>
            </a:pPr>
            <a:r>
              <a:rPr sz="5100" b="1">
                <a:solidFill>
                  <a:srgbClr val="F5F5F5"/>
                </a:solidFill>
              </a:rPr>
              <a:t>80+</a:t>
            </a:r>
          </a:p>
        </p:txBody>
      </p:sp>
      <p:sp>
        <p:nvSpPr>
          <p:cNvPr id="8" name="statement">
            <a:extLst xmlns:a="http://schemas.openxmlformats.org/drawingml/2006/main">
              <a:ext uri="{FF2B5EF4-FFF2-40B4-BE49-F238E27FC236}">
                <a16:creationId xmlns:a16="http://schemas.microsoft.com/office/drawing/2014/main" id="{F2BD8533-CA2A-4188-8269-5DDEC616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67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8A8A8"/>
                </a:solidFill>
              </a:defRPr>
            </a:pPr>
            <a:r>
              <a:rPr sz="1575" b="0">
                <a:solidFill>
                  <a:srgbClr val="A8A8A8"/>
                </a:solidFill>
              </a:rPr>
              <a:t>IT</a:t>
            </a:r>
          </a:p>
        </p:txBody>
      </p:sp>
      <p:sp>
        <p:nvSpPr>
          <p:cNvPr id="9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E84148E2-2DFA-4640-99A3-1188996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5F5"/>
                </a:solidFill>
              </a:defRPr>
            </a:pPr>
            <a:r>
              <a:rPr sz="3900" b="1">
                <a:solidFill>
                  <a:srgbClr val="F5F5F5"/>
                </a:solidFill>
              </a:rPr>
              <a:t>5 месяцев</a:t>
            </a:r>
          </a:p>
        </p:txBody>
      </p:sp>
      <p:sp>
        <p:nvSpPr>
          <p:cNvPr id="10" name="statement">
            <a:extLst xmlns:a="http://schemas.openxmlformats.org/drawingml/2006/main">
              <a:ext uri="{FF2B5EF4-FFF2-40B4-BE49-F238E27FC236}">
                <a16:creationId xmlns:a16="http://schemas.microsoft.com/office/drawing/2014/main" id="{95D912B7-03F1-4873-96E8-13E41750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8A8A8"/>
                </a:solidFill>
              </a:defRPr>
            </a:pPr>
            <a:r>
              <a:rPr sz="1575" b="0">
                <a:solidFill>
                  <a:srgbClr val="A8A8A8"/>
                </a:solidFill>
              </a:rPr>
              <a:t>до цели по агентной разработке</a:t>
            </a:r>
          </a:p>
        </p:txBody>
      </p:sp>
      <p:sp>
        <p:nvSpPr>
          <p:cNvPr id="11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133C8FDD-3F61-4B79-8073-FFC4FF3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3870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94957"/>
                </a:solidFill>
              </a:defRPr>
            </a:pPr>
            <a:r>
              <a:rPr sz="3900" b="1">
                <a:solidFill>
                  <a:srgbClr val="E94957"/>
                </a:solidFill>
              </a:rPr>
              <a:t>Round C</a:t>
            </a:r>
          </a:p>
        </p:txBody>
      </p:sp>
      <p:sp>
        <p:nvSpPr>
          <p:cNvPr id="12" name="statement">
            <a:extLst xmlns:a="http://schemas.openxmlformats.org/drawingml/2006/main">
              <a:ext uri="{FF2B5EF4-FFF2-40B4-BE49-F238E27FC236}">
                <a16:creationId xmlns:a16="http://schemas.microsoft.com/office/drawing/2014/main" id="{F58ABF05-C0A8-4CFF-9B65-3888AA36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581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8A8A8"/>
                </a:solidFill>
              </a:defRPr>
            </a:pPr>
            <a:r>
              <a:rPr sz="1575" b="0">
                <a:solidFill>
                  <a:srgbClr val="A8A8A8"/>
                </a:solidFill>
              </a:rPr>
              <a:t>привлечен</a:t>
            </a:r>
          </a:p>
        </p:txBody>
      </p:sp>
      <p:sp>
        <p:nvSpPr>
          <p:cNvPr id="13" name="right-accent">
            <a:extLst xmlns:a="http://schemas.openxmlformats.org/drawingml/2006/main">
              <a:ext uri="{FF2B5EF4-FFF2-40B4-BE49-F238E27FC236}">
                <a16:creationId xmlns:a16="http://schemas.microsoft.com/office/drawing/2014/main" id="{7F985239-473E-4CC0-B643-ECDED8E4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81351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footer">
            <a:extLst xmlns:a="http://schemas.openxmlformats.org/drawingml/2006/main">
              <a:ext uri="{FF2B5EF4-FFF2-40B4-BE49-F238E27FC236}">
                <a16:creationId xmlns:a16="http://schemas.microsoft.com/office/drawing/2014/main" id="{D9D9D2E8-E08D-4D17-8B96-61A8147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24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841C3A-744A-46A2-A02C-62F1EC5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0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9DB9822-A3C5-4724-9D53-AAB3089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4957"/>
                </a:solidFill>
              </a:defRPr>
            </a:pPr>
            <a:r>
              <a:rPr sz="1275" b="1">
                <a:solidFill>
                  <a:srgbClr val="E94957"/>
                </a:solidFill>
              </a:rPr>
              <a:t>ВЫВОД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E5F1C1-F463-4C1E-98C6-5CE2DA70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AI — не слой</a:t>
            </a:r>
          </a:p>
          <a:p xmlns:a="http://schemas.openxmlformats.org/drawingml/2006/main">
            <a:pPr>
              <a:defRPr sz="4800" b="1">
                <a:solidFill>
                  <a:srgbClr val="F5F5F5"/>
                </a:solidFill>
              </a:defRPr>
            </a:pPr>
            <a:r>
              <a:rPr sz="4800" b="1">
                <a:solidFill>
                  <a:srgbClr val="F5F5F5"/>
                </a:solidFill>
              </a:rPr>
              <a:t>поверх текущего PDLC</a:t>
            </a:r>
          </a:p>
        </p:txBody>
      </p:sp>
      <p:sp>
        <p:nvSpPr>
          <p:cNvPr id="5" name="reframe">
            <a:extLst xmlns:a="http://schemas.openxmlformats.org/drawingml/2006/main">
              <a:ext uri="{FF2B5EF4-FFF2-40B4-BE49-F238E27FC236}">
                <a16:creationId xmlns:a16="http://schemas.microsoft.com/office/drawing/2014/main" id="{25220F86-7418-47E6-8ABA-EC463F7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94957"/>
                </a:solidFill>
              </a:defRPr>
            </a:pPr>
            <a:r>
              <a:rPr sz="2550" b="1">
                <a:solidFill>
                  <a:srgbClr val="E94957"/>
                </a:solidFill>
              </a:rPr>
              <a:t>Это причина пересобрать PDLC под новую скорость.</a:t>
            </a:r>
          </a:p>
        </p:txBody>
      </p:sp>
      <p:sp>
        <p:nvSpPr>
          <p:cNvPr id="6" name="opportunity">
            <a:extLst xmlns:a="http://schemas.openxmlformats.org/drawingml/2006/main">
              <a:ext uri="{FF2B5EF4-FFF2-40B4-BE49-F238E27FC236}">
                <a16:creationId xmlns:a16="http://schemas.microsoft.com/office/drawing/2014/main" id="{68931DD5-63E2-450A-9B8C-A9A46156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4857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pportunity-accent">
            <a:extLst xmlns:a="http://schemas.openxmlformats.org/drawingml/2006/main">
              <a:ext uri="{FF2B5EF4-FFF2-40B4-BE49-F238E27FC236}">
                <a16:creationId xmlns:a16="http://schemas.microsoft.com/office/drawing/2014/main" id="{336B5D20-0536-4D08-B1A2-71449FA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portunity-title">
            <a:extLst xmlns:a="http://schemas.openxmlformats.org/drawingml/2006/main">
              <a:ext uri="{FF2B5EF4-FFF2-40B4-BE49-F238E27FC236}">
                <a16:creationId xmlns:a16="http://schemas.microsoft.com/office/drawing/2014/main" id="{21D76EA8-5EB7-426E-AB7E-DB03F38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Возможность</a:t>
            </a:r>
          </a:p>
        </p:txBody>
      </p:sp>
      <p:sp>
        <p:nvSpPr>
          <p:cNvPr id="9" name="opportunity-body">
            <a:extLst xmlns:a="http://schemas.openxmlformats.org/drawingml/2006/main">
              <a:ext uri="{FF2B5EF4-FFF2-40B4-BE49-F238E27FC236}">
                <a16:creationId xmlns:a16="http://schemas.microsoft.com/office/drawing/2014/main" id="{875B97A3-E367-4B30-A9C1-F3EBCD8D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больше delivery при сохранении качества и управляемости</a:t>
            </a:r>
          </a:p>
        </p:txBody>
      </p:sp>
      <p:sp>
        <p:nvSpPr>
          <p:cNvPr id="10" name="risk">
            <a:extLst xmlns:a="http://schemas.openxmlformats.org/drawingml/2006/main">
              <a:ext uri="{FF2B5EF4-FFF2-40B4-BE49-F238E27FC236}">
                <a16:creationId xmlns:a16="http://schemas.microsoft.com/office/drawing/2014/main" id="{FCFA663A-5CDC-45AF-849C-B769338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857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isk-accent">
            <a:extLst xmlns:a="http://schemas.openxmlformats.org/drawingml/2006/main">
              <a:ext uri="{FF2B5EF4-FFF2-40B4-BE49-F238E27FC236}">
                <a16:creationId xmlns:a16="http://schemas.microsoft.com/office/drawing/2014/main" id="{45C2FA33-51C2-416A-B7B0-F1F2033E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4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sk-title">
            <a:extLst xmlns:a="http://schemas.openxmlformats.org/drawingml/2006/main">
              <a:ext uri="{FF2B5EF4-FFF2-40B4-BE49-F238E27FC236}">
                <a16:creationId xmlns:a16="http://schemas.microsoft.com/office/drawing/2014/main" id="{B3E02B67-D697-409E-8CB0-F1FC8E3B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965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</a:defRPr>
            </a:pPr>
            <a:r>
              <a:rPr sz="1800" b="1">
                <a:solidFill>
                  <a:srgbClr val="F5F5F5"/>
                </a:solidFill>
              </a:rPr>
              <a:t>Риск</a:t>
            </a:r>
          </a:p>
        </p:txBody>
      </p:sp>
      <p:sp>
        <p:nvSpPr>
          <p:cNvPr id="13" name="risk-body">
            <a:extLst xmlns:a="http://schemas.openxmlformats.org/drawingml/2006/main">
              <a:ext uri="{FF2B5EF4-FFF2-40B4-BE49-F238E27FC236}">
                <a16:creationId xmlns:a16="http://schemas.microsoft.com/office/drawing/2014/main" id="{40245DD2-8B3B-46BA-B75D-A221B752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A8A8"/>
                </a:solidFill>
              </a:defRPr>
            </a:pPr>
            <a:r>
              <a:rPr sz="1500" b="0">
                <a:solidFill>
                  <a:srgbClr val="A8A8A8"/>
                </a:solidFill>
              </a:rPr>
              <a:t>масштабировать AI быстрее, чем PDLC умеет управлять результатом</a:t>
            </a:r>
          </a:p>
        </p:txBody>
      </p:sp>
    </p:spTree>
    <p:extLst>
      <p:ext uri="{BB962C8B-B14F-4D97-AF65-F5344CB8AC3E}">
        <p14:creationId xmlns:p14="http://schemas.microsoft.com/office/powerpoint/2010/main" val="1295227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2026-06-24T22:17:13.3800000Z</dcterms:created>
  <dcterms:modified xsi:type="dcterms:W3CDTF">2026-06-24T22:17:13.3800000Z</dcterms:modified>
</coreProperties>
</file>